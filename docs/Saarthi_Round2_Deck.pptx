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0693400" cy="7556500"/>
  <p:notesSz cx="10693400" cy="75565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2515"/>
            <a:ext cx="9089390" cy="1586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1640"/>
            <a:ext cx="7485380" cy="18891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534670" y="1737995"/>
            <a:ext cx="4651629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5507101" y="1737995"/>
            <a:ext cx="4651629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34670" y="302260"/>
            <a:ext cx="9624060" cy="1209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670" y="1737995"/>
            <a:ext cx="9624060" cy="4987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635756" y="7027545"/>
            <a:ext cx="3421888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534670" y="7027545"/>
            <a:ext cx="2459482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7699248" y="7027545"/>
            <a:ext cx="2459482" cy="377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0500" y="877887"/>
            <a:ext cx="10312400" cy="5800725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1325880"/>
            <a:ext cx="49377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527048"/>
            <a:ext cx="4535424" cy="4078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B8A44"/>
                </a:solidFill>
                <a:latin typeface="Calibri"/>
              </a:defRPr>
            </a:pPr>
            <a:r>
              <a:t>TVS CREDIT E.P.I.C 8 · ROUND 2 SUBMISSION</a:t>
            </a:r>
          </a:p>
          <a:p>
            <a:pPr>
              <a:spcAft>
                <a:spcPts val="200"/>
              </a:spcAft>
              <a:defRPr sz="3400" b="1">
                <a:solidFill>
                  <a:srgbClr val="0B2545"/>
                </a:solidFill>
                <a:latin typeface="Calibri"/>
              </a:defRPr>
            </a:pPr>
            <a:r>
              <a:t>सा Saarthi</a:t>
            </a:r>
          </a:p>
          <a:p>
            <a:pPr>
              <a:spcAft>
                <a:spcPts val="1200"/>
              </a:spcAft>
              <a:defRPr sz="1500" b="1">
                <a:solidFill>
                  <a:srgbClr val="E85D04"/>
                </a:solidFill>
                <a:latin typeface="Calibri"/>
              </a:defRPr>
            </a:pPr>
            <a:r>
              <a:t>AI-Powered Smart Lending Decision Hub</a:t>
            </a:r>
          </a:p>
          <a:p>
            <a:pPr>
              <a:spcAft>
                <a:spcPts val="14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A 60-second, explainable, satellite-aware credit decision for rural and semi-urban India — purpose-built for TVS Credit.</a:t>
            </a:r>
          </a:p>
          <a:p>
            <a:pPr>
              <a:spcAft>
                <a:spcPts val="4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• ⚡ 60-Second TAT: </a:t>
            </a:r>
            <a:r>
              <a:rPr sz="950" b="0">
                <a:solidFill>
                  <a:srgbClr val="334155"/>
                </a:solidFill>
                <a:latin typeface="Calibri"/>
              </a:rPr>
              <a:t>Instant credit &amp; default scoring</a:t>
            </a:r>
          </a:p>
          <a:p>
            <a:pPr>
              <a:spcAft>
                <a:spcPts val="4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• 🛰️ Satellite NDVI: </a:t>
            </a:r>
            <a:r>
              <a:rPr sz="950" b="0">
                <a:solidFill>
                  <a:srgbClr val="334155"/>
                </a:solidFill>
                <a:latin typeface="Calibri"/>
              </a:rPr>
              <a:t>Alternative data for thin-file farmers</a:t>
            </a:r>
          </a:p>
          <a:p>
            <a:pPr>
              <a:spcAft>
                <a:spcPts val="4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• ⚖️ RBI DLG 2025: </a:t>
            </a:r>
            <a:r>
              <a:rPr sz="950" b="0">
                <a:solidFill>
                  <a:srgbClr val="334155"/>
                </a:solidFill>
                <a:latin typeface="Calibri"/>
              </a:rPr>
              <a:t>SHAP per-decision cards &amp; 5% FLDG cap</a:t>
            </a:r>
          </a:p>
          <a:p>
            <a:pPr>
              <a:spcAft>
                <a:spcPts val="4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• 🤖 Multilingual GenAI: </a:t>
            </a:r>
            <a:r>
              <a:rPr sz="950" b="0">
                <a:solidFill>
                  <a:srgbClr val="334155"/>
                </a:solidFill>
                <a:latin typeface="Calibri"/>
              </a:rPr>
              <a:t>Hindi-English conversational RAG</a:t>
            </a:r>
          </a:p>
          <a:p>
            <a:pPr>
              <a:spcAft>
                <a:spcPts val="600"/>
              </a:spcAft>
              <a:defRPr sz="800">
                <a:solidFill>
                  <a:srgbClr val="E2E8F0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</a:t>
            </a:r>
          </a:p>
          <a:p>
            <a:pPr>
              <a:spcAft>
                <a:spcPts val="200"/>
              </a:spcAft>
              <a:defRPr sz="950" b="1">
                <a:solidFill>
                  <a:srgbClr val="0B2545"/>
                </a:solidFill>
                <a:latin typeface="Calibri"/>
              </a:defRPr>
            </a:pPr>
            <a:r>
              <a:t>Team Saarthi · VIT Chennai | Rakshith Ganjimut (B.Tech CSE AI &amp; Robotics)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Demo: http://localhost:5173  |  API Docs: http://localhost:8000/docs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AGENDA &amp; EXECUTIVE SUMMARY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What we'll cover in 4 minutes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A structured tour of the rural credit crisis, regulatory tailwinds, architecture, and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4663440" cy="13258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2148840"/>
            <a:ext cx="502920" cy="50292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075688"/>
            <a:ext cx="3794760" cy="1106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The Problem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Why 9 in 10 landless farmers are locked out of formal credit — and the alternative data gap behind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59" y="1965960"/>
            <a:ext cx="4663440" cy="13258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59551" y="2148840"/>
            <a:ext cx="502920" cy="50292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199" y="2075688"/>
            <a:ext cx="3794760" cy="1106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Regulatory Tailwind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RBI FREE-AI 7 Sutras, DLG 2025 (5% FLDG cap), and ₹2L collateral-free agri lending cap.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29000"/>
            <a:ext cx="4663440" cy="13258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3611880"/>
            <a:ext cx="502920" cy="50292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538728"/>
            <a:ext cx="3794760" cy="1106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Market White Space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Why Bajaj, Jio Financial, Airtel, and Credila are urban/salaried-first, leaving rural credit open.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59" y="3429000"/>
            <a:ext cx="4663440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59551" y="3611880"/>
            <a:ext cx="502920" cy="502920"/>
          </a:xfrm>
          <a:prstGeom prst="roundRect">
            <a:avLst/>
          </a:prstGeom>
          <a:solidFill>
            <a:srgbClr val="0B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199" y="3538728"/>
            <a:ext cx="3794760" cy="1106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What Saarthi Does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4 integrated modules: Credit Scorer, Fraud Engine, Loan Recommender, and Multilingual GenAI Assistant.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92040"/>
            <a:ext cx="4663440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" y="5074920"/>
            <a:ext cx="502920" cy="502920"/>
          </a:xfrm>
          <a:prstGeom prst="roundRect">
            <a:avLst/>
          </a:prstGeom>
          <a:solidFill>
            <a:srgbClr val="0B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5001768"/>
            <a:ext cx="3794760" cy="1106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Evidence It Works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IFPRI / KhetScore Odisha RCT validation: +20pp formal credit uptake with lower default.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59" y="4892040"/>
            <a:ext cx="4663440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59551" y="5074920"/>
            <a:ext cx="502920" cy="502920"/>
          </a:xfrm>
          <a:prstGeom prst="roundRect">
            <a:avLst/>
          </a:prstGeom>
          <a:solidFill>
            <a:srgbClr val="0B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5001768"/>
            <a:ext cx="3794760" cy="1106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Live Production Demo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Interactive 3-page web app: Apply form + SHAP explainer, Hindi-English chat, Underwriter Dashboard.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PROBLEM STATEMENT &amp; INDUSTRY CONTEXT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Rural India needs a different credit decision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9 in 10 landless farmers are locked out of formal credit. The traditional status-quo takes 2–4 weeks.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2331720" cy="1691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205740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B91C1C"/>
                </a:solidFill>
                <a:latin typeface="Calibri"/>
              </a:defRPr>
            </a:pPr>
            <a:r>
              <a:t>9.5%</a:t>
            </a:r>
          </a:p>
          <a:p>
            <a:pPr>
              <a:spcAft>
                <a:spcPts val="300"/>
              </a:spcAft>
              <a:defRPr sz="1050" b="1">
                <a:solidFill>
                  <a:srgbClr val="0F172A"/>
                </a:solidFill>
                <a:latin typeface="Calibri"/>
              </a:defRPr>
            </a:pPr>
            <a:r>
              <a:t>Landless KCC Access</a:t>
            </a:r>
          </a:p>
          <a:p>
            <a:pPr>
              <a:defRPr sz="850">
                <a:solidFill>
                  <a:srgbClr val="334155"/>
                </a:solidFill>
                <a:latin typeface="Calibri"/>
              </a:defRPr>
            </a:pPr>
            <a:r>
              <a:t>Only 9.5% of landless rural households possess a Kisan Credit Card (KCC).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9232" y="1965960"/>
            <a:ext cx="2331720" cy="16916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36392" y="2103120"/>
            <a:ext cx="205740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E85D04"/>
                </a:solidFill>
                <a:latin typeface="Calibri"/>
              </a:defRPr>
            </a:pPr>
            <a:r>
              <a:t>30.1%</a:t>
            </a:r>
          </a:p>
          <a:p>
            <a:pPr>
              <a:spcAft>
                <a:spcPts val="300"/>
              </a:spcAft>
              <a:defRPr sz="1050" b="1">
                <a:solidFill>
                  <a:srgbClr val="0F172A"/>
                </a:solidFill>
                <a:latin typeface="Calibri"/>
              </a:defRPr>
            </a:pPr>
            <a:r>
              <a:t>Marginal Farmer KCC</a:t>
            </a:r>
          </a:p>
          <a:p>
            <a:pPr>
              <a:defRPr sz="850">
                <a:solidFill>
                  <a:srgbClr val="334155"/>
                </a:solidFill>
                <a:latin typeface="Calibri"/>
              </a:defRPr>
            </a:pPr>
            <a:r>
              <a:t>Only 30.1% of marginal farmers (&lt;0.4 ha) have formal institutional credit.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9824" y="1965960"/>
            <a:ext cx="2331720" cy="1691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86984" y="2103120"/>
            <a:ext cx="205740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B91C1C"/>
                </a:solidFill>
                <a:latin typeface="Calibri"/>
              </a:defRPr>
            </a:pPr>
            <a:r>
              <a:t>23.4%</a:t>
            </a:r>
          </a:p>
          <a:p>
            <a:pPr>
              <a:spcAft>
                <a:spcPts val="300"/>
              </a:spcAft>
              <a:defRPr sz="1050" b="1">
                <a:solidFill>
                  <a:srgbClr val="0F172A"/>
                </a:solidFill>
                <a:latin typeface="Calibri"/>
              </a:defRPr>
            </a:pPr>
            <a:r>
              <a:t>Moneylender Reliance</a:t>
            </a:r>
          </a:p>
          <a:p>
            <a:pPr>
              <a:defRPr sz="850">
                <a:solidFill>
                  <a:srgbClr val="334155"/>
                </a:solidFill>
                <a:latin typeface="Calibri"/>
              </a:defRPr>
            </a:pPr>
            <a:r>
              <a:t>23.4% of rural households still rely on non-institutional lenders (36–60% interest).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0416" y="1965960"/>
            <a:ext cx="2331720" cy="16916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6" y="2103120"/>
            <a:ext cx="205740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0B2545"/>
                </a:solidFill>
                <a:latin typeface="Calibri"/>
              </a:defRPr>
            </a:pPr>
            <a:r>
              <a:t>2–4 Wks</a:t>
            </a:r>
          </a:p>
          <a:p>
            <a:pPr>
              <a:spcAft>
                <a:spcPts val="300"/>
              </a:spcAft>
              <a:defRPr sz="1050" b="1">
                <a:solidFill>
                  <a:srgbClr val="0F172A"/>
                </a:solidFill>
                <a:latin typeface="Calibri"/>
              </a:defRPr>
            </a:pPr>
            <a:r>
              <a:t>Status-Quo TAT</a:t>
            </a:r>
          </a:p>
          <a:p>
            <a:pPr>
              <a:defRPr sz="850">
                <a:solidFill>
                  <a:srgbClr val="334155"/>
                </a:solidFill>
                <a:latin typeface="Calibri"/>
              </a:defRPr>
            </a:pPr>
            <a:r>
              <a:t>Average turnaround time for rural two-wheeler / tractor credit approvals today.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969264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77640"/>
            <a:ext cx="93268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B8A44"/>
                </a:solidFill>
                <a:latin typeface="Calibri"/>
              </a:defRPr>
            </a:pPr>
            <a:r>
              <a:t>THE ROOT CAUSE &amp; THE SAARTHI INSIGHT (NABARD NAFIS 2021–22 Benchmarks)</a:t>
            </a:r>
          </a:p>
          <a:p>
            <a:pPr>
              <a:spcAft>
                <a:spcPts val="4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Bureau-first credit scoring fails rural India: </a:t>
            </a:r>
            <a:r>
              <a:rPr sz="950" b="0">
                <a:solidFill>
                  <a:srgbClr val="334155"/>
                </a:solidFill>
                <a:latin typeface="Calibri"/>
              </a:rPr>
              <a:t>CIBIL / Experian history is missing or stale for &gt;60% of tractor and two-wheeler loan applicants in Tier-3/4 towns.</a:t>
            </a:r>
          </a:p>
          <a:p>
            <a:pPr>
              <a:spcAft>
                <a:spcPts val="4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The alternative data exists today: </a:t>
            </a:r>
            <a:r>
              <a:rPr sz="950" b="0">
                <a:solidFill>
                  <a:srgbClr val="334155"/>
                </a:solidFill>
                <a:latin typeface="Calibri"/>
              </a:rPr>
              <a:t>Satellite vegetation indices (Sentinel-2 NDVI), IMD rainfall deviation, crop cycles, land records, and local transaction proxies are accessible.</a:t>
            </a:r>
          </a:p>
          <a:p>
            <a:pPr>
              <a:spcAft>
                <a:spcPts val="4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The integration gap: </a:t>
            </a:r>
            <a:r>
              <a:rPr sz="950" b="0">
                <a:solidFill>
                  <a:srgbClr val="334155"/>
                </a:solidFill>
                <a:latin typeface="Calibri"/>
              </a:rPr>
              <a:t>No NBFC platform has wired satellite, agri-socio signals, and fraud rules into an automated, explainable decision engine that an underwriter can approve in 60 seconds.</a:t>
            </a:r>
          </a:p>
          <a:p>
            <a:pPr>
              <a:spcAft>
                <a:spcPts val="4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The business opportunity for TVS Credit: </a:t>
            </a:r>
            <a:r>
              <a:rPr sz="950" b="0">
                <a:solidFill>
                  <a:srgbClr val="334155"/>
                </a:solidFill>
                <a:latin typeface="Calibri"/>
              </a:rPr>
              <a:t>Expand rural credit disbursement by 20–30% with lower default rates by underwriting the creditworthy 'invisible' population.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REGULATORY COMPLIANCE &amp; MANDATES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The regulator is on our side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RBI's FREE-AI 7 Sutras, DLG 2025, and the ₹2L collateral-free cap create a massive tailwind for Saarthi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4663440" cy="2057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30552"/>
            <a:ext cx="4334256" cy="1728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RBI FREE-AI 7 Sutras</a:t>
            </a:r>
          </a:p>
          <a:p>
            <a:pPr>
              <a:spcAft>
                <a:spcPts val="6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Aug 13, 2025 · RBI Framework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Mandates Explainable AI (XAI) for credit appraisal, strict bias and fairness auditing across demographics, human-in-the-loop controls, and indigenous language accessibility. Black-box credit models face severe scrutiny.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59" y="1965960"/>
            <a:ext cx="4663440" cy="20574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551" y="2130552"/>
            <a:ext cx="4334256" cy="1728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DLG 2025 — 5% FLDG Cap</a:t>
            </a:r>
          </a:p>
          <a:p>
            <a:pPr>
              <a:spcAft>
                <a:spcPts val="6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May 8, 2025 · Digital Lending Directions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Caps First Loss Default Guarantee (FLDG) at 5% of digital lending portfolios. Crucially mandates: 'DLG shall not act as a substitute for credit appraisal.' Real algorithmic underwriting rigor is now a strict legal minimum.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0520"/>
            <a:ext cx="4663440" cy="20574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325112"/>
            <a:ext cx="4334256" cy="1728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₹2 Lakh Collateral-Free Agri Limit</a:t>
            </a:r>
          </a:p>
          <a:p>
            <a:pPr>
              <a:spcAft>
                <a:spcPts val="6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Dec 6, 2024 · RBI FIDD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Raised the collateral-free agri-loan limit from ₹1.6L to ₹2.0L. The central bank is actively expanding unsecured small-ticket rural credit — exactly where bureau data is absent and alternative scoring is vital.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4959" y="4160520"/>
            <a:ext cx="466344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551" y="4325112"/>
            <a:ext cx="4334256" cy="1728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Mandatory CIMS Registration &amp; KFS</a:t>
            </a:r>
          </a:p>
          <a:p>
            <a:pPr>
              <a:spcAft>
                <a:spcPts val="6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Jun 15, 2025 · Compliance Deadline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Requires all Digital Lending Apps (DLAs) to register on RBI's CIMS portal, auto-generate standard Key Fact Statements (KFS), enforce a 1-day cooling-off period, and maintain immutable decision audit logs.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COMPETITIVE POSITIONING &amp; WHITE SPACE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Nobody in the market is doing this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Bajaj, Jio Financial, Airtel, and Credila are GenAI-first — but every one of them is urban and salaried-first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96926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554480"/>
                <a:gridCol w="1554480"/>
                <a:gridCol w="1554480"/>
                <a:gridCol w="1554480"/>
                <a:gridCol w="1554480"/>
              </a:tblGrid>
              <a:tr h="61395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Bajaj Finance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Jio Financial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Airtel Finance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HDFC Credila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Saarthi (Ours)</a:t>
                      </a:r>
                    </a:p>
                  </a:txBody>
                  <a:tcPr>
                    <a:solidFill>
                      <a:srgbClr val="0B8A44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Target Segment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Urban salaried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UPI / mobile 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Telco thin-file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Students (abroad)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Rural &amp; semi-urban farmers / gig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Core Data Signal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Salary slips, CIBIL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UPI &amp; wallet txns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Recharge &amp; device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Admission letter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Satellite NDVI, Weather, Land &amp; Agri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GenAI Assistant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Yes (10k loans/mo)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Yes (130 agents)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Yes (telco bot)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Yes (Basic FAQ)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Yes (Hindi-English + Tool Calling)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Satellite / Agri Credit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❌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❌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❌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❌ 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8A44"/>
                          </a:solidFill>
                          <a:latin typeface="Calibri"/>
                        </a:defRPr>
                      </a:pPr>
                      <a:r>
                        <a:t>✓ Sentinel-2 NDVI + IMD Weather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RBI DLG-2025 Ready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Partial (Bureau)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Partial (Closed)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8A44"/>
                          </a:solidFill>
                          <a:latin typeface="Calibri"/>
                        </a:defRPr>
                      </a:pPr>
                      <a:r>
                        <a:t>✓ (KFS, SHAP Log, Bias Audit)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First Decision TAT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Minutes (Pre-approved)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Minutes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8A44"/>
                          </a:solidFill>
                          <a:latin typeface="Calibri"/>
                        </a:defRPr>
                      </a:pPr>
                      <a:r>
                        <a:t>&lt; 60 Seconds (Explainable)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EMPIRICAL VALIDATION &amp; BENCHMARK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It already works — IFPRI / KhetScore Odisha RCT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The only published end-to-end satellite credit trial proves the model. Saarthi brings it to production.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4663440" cy="4297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4297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THE PUBLISHED BENCHMARK</a:t>
            </a:r>
          </a:p>
          <a:p>
            <a:pPr>
              <a:spcAft>
                <a:spcPts val="800"/>
              </a:spcAft>
              <a:defRPr sz="1400" b="1">
                <a:solidFill>
                  <a:srgbClr val="0B8A44"/>
                </a:solidFill>
                <a:latin typeface="Calibri"/>
              </a:defRPr>
            </a:pPr>
            <a:r>
              <a:t>IFPRI Discussion Paper 2288 (2024)</a:t>
            </a:r>
          </a:p>
          <a:p>
            <a:pPr>
              <a:spcAft>
                <a:spcPts val="200"/>
              </a:spcAft>
              <a:defRPr sz="2200" b="1">
                <a:solidFill>
                  <a:srgbClr val="0B2545"/>
                </a:solidFill>
                <a:latin typeface="Calibri"/>
              </a:defRPr>
            </a:pPr>
            <a:r>
              <a:t>+20 percentage points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Calibri"/>
              </a:defRPr>
            </a:pPr>
            <a:r>
              <a:t>increase in formal-credit uptake in treatment villages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58 villages in Odisha: 29 treatment, 29 control across multiple seasons.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Farmers underwritten using satellite NDVI scores borrowed MORE institutional credit.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Crucially, treated households were LESS likely to report loan repayment distress.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  <a:latin typeface="Calibri"/>
              </a:defRPr>
            </a:pPr>
            <a:r>
              <a:t>• Trial successfully scaled from 50 initial farmers to 15,000 farmers.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1965960"/>
            <a:ext cx="4846320" cy="4297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2148840"/>
            <a:ext cx="44805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B8A44"/>
                </a:solidFill>
                <a:latin typeface="Calibri"/>
              </a:defRPr>
            </a:pPr>
            <a:r>
              <a:t>WHAT SAARTHI ADDS FOR PRODUCTION SCALE</a:t>
            </a:r>
          </a:p>
          <a:p>
            <a:pPr>
              <a:spcAft>
                <a:spcPts val="800"/>
              </a:spcAft>
              <a:defRPr sz="1400" b="1">
                <a:solidFill>
                  <a:srgbClr val="0B2545"/>
                </a:solidFill>
                <a:latin typeface="Calibri"/>
              </a:defRPr>
            </a:pPr>
            <a:r>
              <a:t>From Academic Pilot to Enterprise Platform</a:t>
            </a:r>
          </a:p>
          <a:p>
            <a:pPr>
              <a:spcAft>
                <a:spcPts val="400"/>
              </a:spcAft>
              <a:defRPr sz="950" b="1">
                <a:solidFill>
                  <a:srgbClr val="0B2545"/>
                </a:solidFill>
                <a:latin typeface="Calibri"/>
              </a:defRPr>
            </a:pPr>
            <a:r>
              <a:t>✓ Live Dynamic Re-scoring: </a:t>
            </a:r>
            <a:r>
              <a:rPr sz="950" b="0">
                <a:solidFill>
                  <a:srgbClr val="334155"/>
                </a:solidFill>
                <a:latin typeface="Calibri"/>
              </a:rPr>
              <a:t>Continuous weather &amp; NDVI monitoring instead of static once-a-year scoring.</a:t>
            </a:r>
          </a:p>
          <a:p>
            <a:pPr>
              <a:spcAft>
                <a:spcPts val="400"/>
              </a:spcAft>
              <a:defRPr sz="950" b="1">
                <a:solidFill>
                  <a:srgbClr val="0B2545"/>
                </a:solidFill>
                <a:latin typeface="Calibri"/>
              </a:defRPr>
            </a:pPr>
            <a:r>
              <a:t>✓ Integrated Fraud Defense: </a:t>
            </a:r>
            <a:r>
              <a:rPr sz="950" b="0">
                <a:solidFill>
                  <a:srgbClr val="334155"/>
                </a:solidFill>
                <a:latin typeface="Calibri"/>
              </a:rPr>
              <a:t>Hybrid heuristic rules + Isolation Forest anomaly detection for device/identity fraud.</a:t>
            </a:r>
          </a:p>
          <a:p>
            <a:pPr>
              <a:spcAft>
                <a:spcPts val="400"/>
              </a:spcAft>
              <a:defRPr sz="950" b="1">
                <a:solidFill>
                  <a:srgbClr val="0B2545"/>
                </a:solidFill>
                <a:latin typeface="Calibri"/>
              </a:defRPr>
            </a:pPr>
            <a:r>
              <a:t>✓ Multilingual GenAI Assistant: </a:t>
            </a:r>
            <a:r>
              <a:rPr sz="950" b="0">
                <a:solidFill>
                  <a:srgbClr val="334155"/>
                </a:solidFill>
                <a:latin typeface="Calibri"/>
              </a:rPr>
              <a:t>Hindi-English conversational interface with function calling for credit assessment.</a:t>
            </a:r>
          </a:p>
          <a:p>
            <a:pPr>
              <a:spcAft>
                <a:spcPts val="400"/>
              </a:spcAft>
              <a:defRPr sz="950" b="1">
                <a:solidFill>
                  <a:srgbClr val="0B2545"/>
                </a:solidFill>
                <a:latin typeface="Calibri"/>
              </a:defRPr>
            </a:pPr>
            <a:r>
              <a:t>✓ Underwriter Command Center: </a:t>
            </a:r>
            <a:r>
              <a:rPr sz="950" b="0">
                <a:solidFill>
                  <a:srgbClr val="334155"/>
                </a:solidFill>
                <a:latin typeface="Calibri"/>
              </a:rPr>
              <a:t>Real-time India risk heatmap, portfolio KPIs, and application drill-down.</a:t>
            </a:r>
          </a:p>
          <a:p>
            <a:pPr>
              <a:spcAft>
                <a:spcPts val="400"/>
              </a:spcAft>
              <a:defRPr sz="950" b="1">
                <a:solidFill>
                  <a:srgbClr val="0B2545"/>
                </a:solidFill>
                <a:latin typeface="Calibri"/>
              </a:defRPr>
            </a:pPr>
            <a:r>
              <a:t>✓ Full XAI &amp; DLG-2025 Audit Trail: </a:t>
            </a:r>
            <a:r>
              <a:rPr sz="950" b="0">
                <a:solidFill>
                  <a:srgbClr val="334155"/>
                </a:solidFill>
                <a:latin typeface="Calibri"/>
              </a:rPr>
              <a:t>Per-decision TreeExplainer SHAP reason codes and compliance logs.</a:t>
            </a:r>
          </a:p>
          <a:p>
            <a:pPr>
              <a:spcAft>
                <a:spcPts val="400"/>
              </a:spcAft>
              <a:defRPr sz="950" b="1">
                <a:solidFill>
                  <a:srgbClr val="0B2545"/>
                </a:solidFill>
                <a:latin typeface="Calibri"/>
              </a:defRPr>
            </a:pPr>
            <a:r>
              <a:t>✓ Loan Recommendation Engine: </a:t>
            </a:r>
            <a:r>
              <a:rPr sz="950" b="0">
                <a:solidFill>
                  <a:srgbClr val="334155"/>
                </a:solidFill>
                <a:latin typeface="Calibri"/>
              </a:rPr>
              <a:t>Optimizes loan ticket size, interest rate, and tenure capped at 5% FLDG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SYSTEM ARCHITECTURE &amp; PRODUCT MODULES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4 integrated modules in 1 product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Engineered on FastAPI + XGBoost + SHAP + Gemini Flash + Leaflet Geospatial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4663440" cy="2057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2130552"/>
            <a:ext cx="411480" cy="41148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2093976"/>
            <a:ext cx="3886200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AI Credit Scorer</a:t>
            </a:r>
          </a:p>
          <a:p>
            <a:pPr>
              <a:spcAft>
                <a:spcPts val="400"/>
              </a:spcAft>
              <a:defRPr sz="900" b="1">
                <a:solidFill>
                  <a:srgbClr val="0B8A44"/>
                </a:solidFill>
                <a:latin typeface="Calibri"/>
              </a:defRPr>
            </a:pPr>
            <a:r>
              <a:t>XGBoost Regressor (300–900)  |  R² 0.85 holdout accuracy</a:t>
            </a:r>
          </a:p>
          <a:p>
            <a:pPr>
              <a:spcAft>
                <a:spcPts val="2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Inputs: Income, land acres, NDVI productivity, rainfall anomaly, livestock assets, KYC tier.</a:t>
            </a:r>
          </a:p>
          <a:p>
            <a:pPr>
              <a:spcAft>
                <a:spcPts val="2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Outputs: Credit score (300-900), default risk %, loan approval decision, and top-3 SHAP drivers.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59" y="1965960"/>
            <a:ext cx="4663440" cy="20574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59551" y="2130552"/>
            <a:ext cx="411480" cy="41148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7" y="2093976"/>
            <a:ext cx="3886200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Fraud Engine</a:t>
            </a:r>
          </a:p>
          <a:p>
            <a:pPr>
              <a:spcAft>
                <a:spcPts val="400"/>
              </a:spcAft>
              <a:defRPr sz="900" b="1">
                <a:solidFill>
                  <a:srgbClr val="0B8A44"/>
                </a:solidFill>
                <a:latin typeface="Calibri"/>
              </a:defRPr>
            </a:pPr>
            <a:r>
              <a:t>Rule-Engine + Isolation Forest  |  Catches 6 signal classes</a:t>
            </a:r>
          </a:p>
          <a:p>
            <a:pPr>
              <a:spcAft>
                <a:spcPts val="2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Signals: Velocity spikes, geo-mismatch, disposable email, shared device IDs, SIM age anomalies.</a:t>
            </a:r>
          </a:p>
          <a:p>
            <a:pPr>
              <a:spcAft>
                <a:spcPts val="2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Outputs: Risk score, anomaly flag, and human-in-the-loop review trigger.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60520"/>
            <a:ext cx="4663440" cy="20574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4325112"/>
            <a:ext cx="411480" cy="41148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4288536"/>
            <a:ext cx="3886200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GenAI Assistant</a:t>
            </a:r>
          </a:p>
          <a:p>
            <a:pPr>
              <a:spcAft>
                <a:spcPts val="400"/>
              </a:spcAft>
              <a:defRPr sz="900" b="1">
                <a:solidFill>
                  <a:srgbClr val="0B8A44"/>
                </a:solidFill>
                <a:latin typeface="Calibri"/>
              </a:defRPr>
            </a:pPr>
            <a:r>
              <a:t>Gemini 1.5 Flash + RAG  |  4 TVS Docs + DLG 2025</a:t>
            </a:r>
          </a:p>
          <a:p>
            <a:pPr>
              <a:spcAft>
                <a:spcPts val="2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Hindi-English chat with function-calling to execute live credit scoring &amp; EMI estimates.</a:t>
            </a:r>
          </a:p>
          <a:p>
            <a:pPr>
              <a:spcAft>
                <a:spcPts val="2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Includes zero-key offline rule-based fallback ensuring 100% uptime without external API.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59" y="4160520"/>
            <a:ext cx="4663440" cy="20574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59551" y="4325112"/>
            <a:ext cx="411480" cy="41148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7" y="4288536"/>
            <a:ext cx="3886200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0B2545"/>
                </a:solidFill>
                <a:latin typeface="Calibri"/>
              </a:defRPr>
            </a:pPr>
            <a:r>
              <a:t>Underwriter Hub</a:t>
            </a:r>
          </a:p>
          <a:p>
            <a:pPr>
              <a:spcAft>
                <a:spcPts val="400"/>
              </a:spcAft>
              <a:defRPr sz="900" b="1">
                <a:solidFill>
                  <a:srgbClr val="0B8A44"/>
                </a:solidFill>
                <a:latin typeface="Calibri"/>
              </a:defRPr>
            </a:pPr>
            <a:r>
              <a:t>SPA + Leaflet Geospatial  |  Live Heatmap + 4 KPIs</a:t>
            </a:r>
          </a:p>
          <a:p>
            <a:pPr>
              <a:spcAft>
                <a:spcPts val="2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Interactive India state risk heatmap, live WebSocket application feed, applicant drill-down.</a:t>
            </a:r>
          </a:p>
          <a:p>
            <a:pPr>
              <a:spcAft>
                <a:spcPts val="2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Replaces manual 4-hour morning branch spreadsheet reviews with a 60-second workflow.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MACHINE LEARNING VALIDATION &amp; METRICS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Trained on 5,000 synthetic applicants · Live now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The full ML pipeline runs end-to-end on demo data in &lt; 2 seconds per applicant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23317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205740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0B8A44"/>
                </a:solidFill>
                <a:latin typeface="Calibri"/>
              </a:defRPr>
            </a:pPr>
            <a:r>
              <a:t>0.98</a:t>
            </a:r>
          </a:p>
          <a:p>
            <a:pPr>
              <a:spcAft>
                <a:spcPts val="300"/>
              </a:spcAft>
              <a:defRPr sz="1050" b="1">
                <a:solidFill>
                  <a:srgbClr val="0F172A"/>
                </a:solidFill>
                <a:latin typeface="Calibri"/>
              </a:defRPr>
            </a:pPr>
            <a:r>
              <a:t>Default Classifier AUC</a:t>
            </a:r>
          </a:p>
          <a:p>
            <a:pPr>
              <a:defRPr sz="850">
                <a:solidFill>
                  <a:srgbClr val="334155"/>
                </a:solidFill>
                <a:latin typeface="Calibri"/>
              </a:defRPr>
            </a:pPr>
            <a:r>
              <a:t>XGBoost classifier on 5,000 rows (80/20 holdout split)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9232" y="1965960"/>
            <a:ext cx="2331720" cy="16916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36392" y="2103120"/>
            <a:ext cx="205740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0B2545"/>
                </a:solidFill>
                <a:latin typeface="Calibri"/>
              </a:defRPr>
            </a:pPr>
            <a:r>
              <a:t>55 pts</a:t>
            </a:r>
          </a:p>
          <a:p>
            <a:pPr>
              <a:spcAft>
                <a:spcPts val="300"/>
              </a:spcAft>
              <a:defRPr sz="1050" b="1">
                <a:solidFill>
                  <a:srgbClr val="0F172A"/>
                </a:solidFill>
                <a:latin typeface="Calibri"/>
              </a:defRPr>
            </a:pPr>
            <a:r>
              <a:t>Credit-Score MAE</a:t>
            </a:r>
          </a:p>
          <a:p>
            <a:pPr>
              <a:defRPr sz="850">
                <a:solidFill>
                  <a:srgbClr val="334155"/>
                </a:solidFill>
                <a:latin typeface="Calibri"/>
              </a:defRPr>
            </a:pPr>
            <a:r>
              <a:t>Mean Absolute Error on 300–900 CIBIL-equivalent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9824" y="1965960"/>
            <a:ext cx="2331720" cy="1691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86984" y="2103120"/>
            <a:ext cx="205740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B91C1C"/>
                </a:solidFill>
                <a:latin typeface="Calibri"/>
              </a:defRPr>
            </a:pPr>
            <a:r>
              <a:t>6 Classes</a:t>
            </a:r>
          </a:p>
          <a:p>
            <a:pPr>
              <a:spcAft>
                <a:spcPts val="300"/>
              </a:spcAft>
              <a:defRPr sz="1050" b="1">
                <a:solidFill>
                  <a:srgbClr val="0F172A"/>
                </a:solidFill>
                <a:latin typeface="Calibri"/>
              </a:defRPr>
            </a:pPr>
            <a:r>
              <a:t>Fraud Signal Detection</a:t>
            </a:r>
          </a:p>
          <a:p>
            <a:pPr>
              <a:defRPr sz="850">
                <a:solidFill>
                  <a:srgbClr val="334155"/>
                </a:solidFill>
                <a:latin typeface="Calibri"/>
              </a:defRPr>
            </a:pPr>
            <a:r>
              <a:t>Velocity, geo mismatch, device sharing, disposable contact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0416" y="1965960"/>
            <a:ext cx="2331720" cy="16916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6" y="2103120"/>
            <a:ext cx="205740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E85D04"/>
                </a:solidFill>
                <a:latin typeface="Calibri"/>
              </a:defRPr>
            </a:pPr>
            <a:r>
              <a:t>&lt; 2 sec</a:t>
            </a:r>
          </a:p>
          <a:p>
            <a:pPr>
              <a:spcAft>
                <a:spcPts val="300"/>
              </a:spcAft>
              <a:defRPr sz="1050" b="1">
                <a:solidFill>
                  <a:srgbClr val="0F172A"/>
                </a:solidFill>
                <a:latin typeface="Calibri"/>
              </a:defRPr>
            </a:pPr>
            <a:r>
              <a:t>End-to-End Latency</a:t>
            </a:r>
          </a:p>
          <a:p>
            <a:pPr>
              <a:defRPr sz="850">
                <a:solidFill>
                  <a:srgbClr val="334155"/>
                </a:solidFill>
                <a:latin typeface="Calibri"/>
              </a:defRPr>
            </a:pPr>
            <a:r>
              <a:t>From form submission to credit score + SHAP + loan recommendation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9692640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77640"/>
            <a:ext cx="93268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B8A44"/>
                </a:solidFill>
                <a:latin typeface="Calibri"/>
              </a:defRPr>
            </a:pPr>
            <a:r>
              <a:t>TRAINING DATA CHARACTERISTICS &amp; EXPLAINABILITY ENGINE</a:t>
            </a:r>
          </a:p>
          <a:p>
            <a:pPr>
              <a:spcAft>
                <a:spcPts val="4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Representative Dataset: </a:t>
            </a:r>
            <a:r>
              <a:rPr sz="950" b="0">
                <a:solidFill>
                  <a:srgbClr val="334155"/>
                </a:solidFill>
                <a:latin typeface="Calibri"/>
              </a:rPr>
              <a:t>5,000 synthetic Indian loan applicants modeled after NABARD NAFIS 2021–22 distributions across 13 states, 24 districts, 9 loan products, and 7 employment profiles.</a:t>
            </a:r>
          </a:p>
          <a:p>
            <a:pPr>
              <a:spcAft>
                <a:spcPts val="4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Realistic Risk Distribution: </a:t>
            </a:r>
            <a:r>
              <a:rPr sz="950" b="0">
                <a:solidFill>
                  <a:srgbClr val="334155"/>
                </a:solidFill>
                <a:latin typeface="Calibri"/>
              </a:rPr>
              <a:t>Baseline 70% approve / 20% refer / 10% reject; mean CIBIL 645 ± 70 with simulated thin-file rural profiles.</a:t>
            </a:r>
          </a:p>
          <a:p>
            <a:pPr>
              <a:spcAft>
                <a:spcPts val="4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Agricultural Feature Engineering: </a:t>
            </a:r>
            <a:r>
              <a:rPr sz="950" b="0">
                <a:solidFill>
                  <a:srgbClr val="334155"/>
                </a:solidFill>
                <a:latin typeface="Calibri"/>
              </a:rPr>
              <a:t>9 crop types, NDVI range 0.30–0.95, rainfall deficit % from IMD normals, land size 0.5–12.0 acres, livestock count, and irrigation access.</a:t>
            </a:r>
          </a:p>
          <a:p>
            <a:pPr>
              <a:spcAft>
                <a:spcPts val="4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Production TreeExplainer SHAP: </a:t>
            </a:r>
            <a:r>
              <a:rPr sz="950" b="0">
                <a:solidFill>
                  <a:srgbClr val="334155"/>
                </a:solidFill>
                <a:latin typeface="Calibri"/>
              </a:rPr>
              <a:t>Computes exact Shapley values in real-time, surfacing the top-3 positive/negative driver reason codes directly in English and Hindi for underwriters and customers.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LIVE APPLICATION ARCHITECTURE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Live demo · 3 pages, 4 minutes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Seamless single-page application connecting customer onboarding, GenAI advisory, and underwriter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3108960" cy="4297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30552"/>
            <a:ext cx="2779776" cy="39684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B8A44"/>
                </a:solidFill>
                <a:latin typeface="Calibri"/>
              </a:defRPr>
            </a:pPr>
            <a:r>
              <a:t>PAGE 1: /apply</a:t>
            </a:r>
          </a:p>
          <a:p>
            <a:pPr>
              <a:spcAft>
                <a:spcPts val="800"/>
              </a:spcAft>
              <a:defRPr sz="1250" b="1">
                <a:solidFill>
                  <a:srgbClr val="0B2545"/>
                </a:solidFill>
                <a:latin typeface="Calibri"/>
              </a:defRPr>
            </a:pPr>
            <a:r>
              <a:t>Loan Application &amp; Real-Time Scoring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• Customer / dealer completes intuitive 12-field form (income, loan type, land size, crop type, location).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• Loads pre-configured demo presets (e.g., landless farmer, smallholder, rural artisan).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• Instant score gauge with top-3 SHAP positive &amp; negative drivers.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• Recommended loan amount, tenure, interest rate, and monthly EMI calculation.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1965960"/>
            <a:ext cx="3108960" cy="4297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05072" y="2130552"/>
            <a:ext cx="2779776" cy="39684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B8A44"/>
                </a:solidFill>
                <a:latin typeface="Calibri"/>
              </a:defRPr>
            </a:pPr>
            <a:r>
              <a:t>PAGE 2: /assistant</a:t>
            </a:r>
          </a:p>
          <a:p>
            <a:pPr>
              <a:spcAft>
                <a:spcPts val="800"/>
              </a:spcAft>
              <a:defRPr sz="1250" b="1">
                <a:solidFill>
                  <a:srgbClr val="0B2545"/>
                </a:solidFill>
                <a:latin typeface="Calibri"/>
              </a:defRPr>
            </a:pPr>
            <a:r>
              <a:t>Saarthi Multilingual Conversational AI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• Bilingual natural language assistant (Hindi + English) powered by Gemini 1.5 Flash.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• Function calling / tool use: dynamically queries credit engine to fetch applicant score &amp; EMI options.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• Grounded in real TVS Credit product guidelines (Two-Wheeler, Tractor, Gold Loan, DLG 2025).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• Built-in rule-based offline fallback guarantees zero failure when offline.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965960"/>
            <a:ext cx="3108960" cy="42976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2130552"/>
            <a:ext cx="2779776" cy="39684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B8A44"/>
                </a:solidFill>
                <a:latin typeface="Calibri"/>
              </a:defRPr>
            </a:pPr>
            <a:r>
              <a:t>PAGE 3: /dashboard</a:t>
            </a:r>
          </a:p>
          <a:p>
            <a:pPr>
              <a:spcAft>
                <a:spcPts val="800"/>
              </a:spcAft>
              <a:defRPr sz="1250" b="1">
                <a:solidFill>
                  <a:srgbClr val="0B2545"/>
                </a:solidFill>
                <a:latin typeface="Calibri"/>
              </a:defRPr>
            </a:pPr>
            <a:r>
              <a:t>Underwriter Command Center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• Interactive India choropleth risk heatmap displaying state-level approval rates &amp; risk tiers.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• 4 key portfolio health cards: Total Volume, Approval Rate, Average Score, High Risk Flags.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• Live streaming transaction feed simulating real-time applicant scoring every 3 seconds.</a:t>
            </a:r>
          </a:p>
          <a:p>
            <a:pPr>
              <a:spcAft>
                <a:spcPts val="5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• Applicant drill-down modal showing full audit trail and anomaly breakdowns.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REGULATORY GOVERNANCE &amp; COMPLIANCE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Built for the regulator, not just the demo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Saarthi is born-DLG-2025-compliant and rigorously mapped against RBI's FREE-AI 7 Sutras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96926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6035040"/>
              </a:tblGrid>
              <a:tr h="53721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RBI FREE-AI Sutra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Principle Focus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How Saarthi Implements It in Production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1. Trust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8A44"/>
                          </a:solidFill>
                          <a:latin typeface="Calibri"/>
                        </a:defRPr>
                      </a:pPr>
                      <a:r>
                        <a:t>Auditability &amp; Integrity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Immutable decision log per applicant; model card stored on disk; every score 100% reproducible with logged input feature snapshots.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2. People First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8A44"/>
                          </a:solidFill>
                          <a:latin typeface="Calibri"/>
                        </a:defRPr>
                      </a:pPr>
                      <a:r>
                        <a:t>Accessibility &amp; Inclusion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Hindi-English conversational UI designed for rural borrowers and branch loan officers; zero English-only financial jargon.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3. Innovation over Restraint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8A44"/>
                          </a:solidFill>
                          <a:latin typeface="Calibri"/>
                        </a:defRPr>
                      </a:pPr>
                      <a:r>
                        <a:t>Pragmatic Architecture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Interpretable XGBoost + TreeExplainer SHAP chosen over opaque deep neural networks; simple, robust, and auditable.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4. Fairness &amp; Equity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8A44"/>
                          </a:solidFill>
                          <a:latin typeface="Calibri"/>
                        </a:defRPr>
                      </a:pPr>
                      <a:r>
                        <a:t>Demographic Non-Bias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Automated bias audits across age, gender, state, and employment tier; stratified metrics ensure parity in loan approval rates.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5. Accountability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8A44"/>
                          </a:solidFill>
                          <a:latin typeface="Calibri"/>
                        </a:defRPr>
                      </a:pPr>
                      <a:r>
                        <a:t>Model 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Every model checkpoint, training dataset, and rule weight saved with SHA-256 hash; complete rollback and governance trail.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6. Understandability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8A44"/>
                          </a:solidFill>
                          <a:latin typeface="Calibri"/>
                        </a:defRPr>
                      </a:pPr>
                      <a:r>
                        <a:t>Explainable AI (XAI)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Top-3 SHAP positive &amp; negative reason codes surfaced to underwriters in English and to customers in Hindi.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2545"/>
                          </a:solidFill>
                          <a:latin typeface="Calibri"/>
                        </a:defRPr>
                      </a:pPr>
                      <a:r>
                        <a:t>7. Safety &amp; Resilience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0B8A44"/>
                          </a:solidFill>
                          <a:latin typeface="Calibri"/>
                        </a:defRPr>
                      </a:pPr>
                      <a:r>
                        <a:t>High Availability &amp; Guardrails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Offline rule-based fallback for chat and scoring guarantees 100% service uptime even if LLM APIs are unreachable.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STRATEGIC EXECUTION &amp; GROWTH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Roadmap · from Round 3 demo to RBI sandbox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A disciplined 12-month commercialization and compliance roadmap for TVS Credit partnership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2331720" cy="4297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205740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PHASE 1 (NOW)</a:t>
            </a:r>
          </a:p>
          <a:p>
            <a:pPr>
              <a:spcAft>
                <a:spcPts val="200"/>
              </a:spcAft>
              <a:defRPr sz="1200" b="1">
                <a:solidFill>
                  <a:srgbClr val="0B2545"/>
                </a:solidFill>
                <a:latin typeface="Calibri"/>
              </a:defRPr>
            </a:pPr>
            <a:r>
              <a:t>Round 2 &amp; 3 MVP Demo</a:t>
            </a:r>
          </a:p>
          <a:p>
            <a:pPr>
              <a:spcAft>
                <a:spcPts val="600"/>
              </a:spcAft>
              <a:defRPr sz="900" b="1">
                <a:solidFill>
                  <a:srgbClr val="64748B"/>
                </a:solidFill>
                <a:latin typeface="Calibri"/>
              </a:defRPr>
            </a:pPr>
            <a:r>
              <a:t>August 2026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5,000 synthetic applicants with realistic rural distributions.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FastAPI backend with 7 production endpoints &amp; Swagger docs.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Next.js single-page application: Apply / Assistant / Dashboard.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Gemini 1.5 Flash function calling + offline rule fallback.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9232" y="1965960"/>
            <a:ext cx="2331720" cy="4297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36392" y="2103120"/>
            <a:ext cx="205740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PHASE 2 (MONTHS 1-3)</a:t>
            </a:r>
          </a:p>
          <a:p>
            <a:pPr>
              <a:spcAft>
                <a:spcPts val="200"/>
              </a:spcAft>
              <a:defRPr sz="1200" b="1">
                <a:solidFill>
                  <a:srgbClr val="0B2545"/>
                </a:solidFill>
                <a:latin typeface="Calibri"/>
              </a:defRPr>
            </a:pPr>
            <a:r>
              <a:t>NBFC Branch Pilot</a:t>
            </a:r>
          </a:p>
          <a:p>
            <a:pPr>
              <a:spcAft>
                <a:spcPts val="600"/>
              </a:spcAft>
              <a:defRPr sz="900" b="1">
                <a:solidFill>
                  <a:srgbClr val="64748B"/>
                </a:solidFill>
                <a:latin typeface="Calibri"/>
              </a:defRPr>
            </a:pPr>
            <a:r>
              <a:t>Q4 2026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Swap synthetic dataset with anonymized TVS Credit LMS extract.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Integrate live bureau pull (CIBIL/Experian) + Aadhaar eKYC.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Connect live Sentinel-2 NDVI satellite &amp; IMD weather APIs.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Field test in 1 district across 5 dealer branches (Target TAT &lt; 30m).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9824" y="1965960"/>
            <a:ext cx="2331720" cy="42976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86984" y="2103120"/>
            <a:ext cx="205740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PHASE 3 (MONTHS 4-6)</a:t>
            </a:r>
          </a:p>
          <a:p>
            <a:pPr>
              <a:spcAft>
                <a:spcPts val="200"/>
              </a:spcAft>
              <a:defRPr sz="1200" b="1">
                <a:solidFill>
                  <a:srgbClr val="0B2545"/>
                </a:solidFill>
                <a:latin typeface="Calibri"/>
              </a:defRPr>
            </a:pPr>
            <a:r>
              <a:t>RBI Regulatory Sandbox</a:t>
            </a:r>
          </a:p>
          <a:p>
            <a:pPr>
              <a:spcAft>
                <a:spcPts val="600"/>
              </a:spcAft>
              <a:defRPr sz="900" b="1">
                <a:solidFill>
                  <a:srgbClr val="64748B"/>
                </a:solidFill>
                <a:latin typeface="Calibri"/>
              </a:defRPr>
            </a:pPr>
            <a:r>
              <a:t>Q1 2027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Submit application for RBI's On-Tap Regulatory Sandbox (DLG track).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Expand assistant to Tamil, Telugu, Marathi, and Kannada.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Comprehensive third-party bias and fairness validation.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Automated Model Governance Card per RBI Sutra 7.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0416" y="1965960"/>
            <a:ext cx="2331720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6" y="2103120"/>
            <a:ext cx="205740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PHASE 4 (MONTHS 7-12)</a:t>
            </a:r>
          </a:p>
          <a:p>
            <a:pPr>
              <a:spcAft>
                <a:spcPts val="200"/>
              </a:spcAft>
              <a:defRPr sz="1200" b="1">
                <a:solidFill>
                  <a:srgbClr val="0B2545"/>
                </a:solidFill>
                <a:latin typeface="Calibri"/>
              </a:defRPr>
            </a:pPr>
            <a:r>
              <a:t>Scale to ₹500 Cr AUM</a:t>
            </a:r>
          </a:p>
          <a:p>
            <a:pPr>
              <a:spcAft>
                <a:spcPts val="600"/>
              </a:spcAft>
              <a:defRPr sz="900" b="1">
                <a:solidFill>
                  <a:srgbClr val="64748B"/>
                </a:solidFill>
                <a:latin typeface="Calibri"/>
              </a:defRPr>
            </a:pPr>
            <a:r>
              <a:t>Q3 2027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Scale across 10 NBFC partner networks in 5 rural states.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Graph ML co-borrower network fraud ring detection.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Automated weekly portfolio re-scoring and early default alerts.</a:t>
            </a:r>
          </a:p>
          <a:p>
            <a:pPr>
              <a:spcAft>
                <a:spcPts val="400"/>
              </a:spcAft>
              <a:defRPr sz="850">
                <a:solidFill>
                  <a:srgbClr val="334155"/>
                </a:solidFill>
                <a:latin typeface="Calibri"/>
              </a:defRPr>
            </a:pPr>
            <a:r>
              <a:t>• Open API gateway for co-lending partner banks and BCs.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TEAM CREDENTIALS &amp; TVS CREDIT COLLABORATION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The ask · the team · the next 4 minutes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We are seeking 1 NBFC partner, 1 district of loan officers, and 30 days of pilot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4663440" cy="4297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42976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B8A44"/>
                </a:solidFill>
                <a:latin typeface="Calibri"/>
              </a:defRPr>
            </a:pPr>
            <a:r>
              <a:t>THE BUILDER</a:t>
            </a:r>
          </a:p>
          <a:p>
            <a:pPr>
              <a:spcAft>
                <a:spcPts val="1000"/>
              </a:spcAft>
              <a:defRPr sz="1400" b="1">
                <a:solidFill>
                  <a:srgbClr val="0B2545"/>
                </a:solidFill>
                <a:latin typeface="Calibri"/>
              </a:defRPr>
            </a:pPr>
            <a:r>
              <a:t>Rakshith Ganjimut · Team Saarthi</a:t>
            </a:r>
          </a:p>
          <a:p>
            <a:pPr>
              <a:spcAft>
                <a:spcPts val="8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Academic Excellence: </a:t>
            </a:r>
            <a:r>
              <a:rPr sz="950" b="0">
                <a:solidFill>
                  <a:srgbClr val="334155"/>
                </a:solidFill>
                <a:latin typeface="Calibri"/>
              </a:rPr>
              <a:t>B.Tech CSE (AI &amp; Robotics) at VIT Chennai (2024–2028), CGPA 8.5.</a:t>
            </a:r>
          </a:p>
          <a:p>
            <a:pPr>
              <a:spcAft>
                <a:spcPts val="8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Full-Stack &amp; ML Engineering: </a:t>
            </a:r>
            <a:r>
              <a:rPr sz="950" b="0">
                <a:solidFill>
                  <a:srgbClr val="334155"/>
                </a:solidFill>
                <a:latin typeface="Calibri"/>
              </a:rPr>
              <a:t>Production experience across FastAPI, Python, TypeScript, Next.js, and XGBoost/SHAP.</a:t>
            </a:r>
          </a:p>
          <a:p>
            <a:pPr>
              <a:spcAft>
                <a:spcPts val="8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Proven SaaS Shipper: </a:t>
            </a:r>
            <a:r>
              <a:rPr sz="950" b="0">
                <a:solidFill>
                  <a:srgbClr val="334155"/>
                </a:solidFill>
                <a:latin typeface="Calibri"/>
              </a:rPr>
              <a:t>Built and shipped AI Code Reviewer, Career Chatbot, and Task-Tapper.</a:t>
            </a:r>
          </a:p>
          <a:p>
            <a:pPr>
              <a:spcAft>
                <a:spcPts val="8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Domain FinTech Experience: </a:t>
            </a:r>
            <a:r>
              <a:rPr sz="950" b="0">
                <a:solidFill>
                  <a:srgbClr val="334155"/>
                </a:solidFill>
                <a:latin typeface="Calibri"/>
              </a:rPr>
              <a:t>BlackVolt intern — engineered real credit scoring models and pipelines for an operating NBFC.</a:t>
            </a:r>
          </a:p>
          <a:p>
            <a:pPr>
              <a:spcAft>
                <a:spcPts val="8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Deep Rural Empathy: </a:t>
            </a:r>
            <a:r>
              <a:rPr sz="950" b="0">
                <a:solidFill>
                  <a:srgbClr val="334155"/>
                </a:solidFill>
                <a:latin typeface="Calibri"/>
              </a:rPr>
              <a:t>Passionate about empowering Tier-3/4 India's 'invisible' credit population through alternative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1965960"/>
            <a:ext cx="4846320" cy="4297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2148840"/>
            <a:ext cx="44805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B8A44"/>
                </a:solidFill>
                <a:latin typeface="Calibri"/>
              </a:defRPr>
            </a:pPr>
            <a:r>
              <a:t>THE ASK FOR TVS CREDIT</a:t>
            </a:r>
          </a:p>
          <a:p>
            <a:pPr>
              <a:spcAft>
                <a:spcPts val="1000"/>
              </a:spcAft>
              <a:defRPr sz="1400" b="1">
                <a:solidFill>
                  <a:srgbClr val="0B2545"/>
                </a:solidFill>
                <a:latin typeface="Calibri"/>
              </a:defRPr>
            </a:pPr>
            <a:r>
              <a:t>What We Need to Launch the Pilot</a:t>
            </a:r>
          </a:p>
          <a:p>
            <a:pPr>
              <a:spcAft>
                <a:spcPts val="8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✓ 30-Minute Working Session: </a:t>
            </a:r>
            <a:r>
              <a:rPr sz="950" b="0">
                <a:solidFill>
                  <a:srgbClr val="334155"/>
                </a:solidFill>
                <a:latin typeface="Calibri"/>
              </a:rPr>
              <a:t>Meet with the TVS Credit Digital Lending leadership team to review pilot parameters.</a:t>
            </a:r>
          </a:p>
          <a:p>
            <a:pPr>
              <a:spcAft>
                <a:spcPts val="8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✓ 1 Month Anonymized LMS Data: </a:t>
            </a:r>
            <a:r>
              <a:rPr sz="950" b="0">
                <a:solidFill>
                  <a:srgbClr val="334155"/>
                </a:solidFill>
                <a:latin typeface="Calibri"/>
              </a:rPr>
              <a:t>~5,000 historical de-identified loan records to calibrate our alternative-data model on real TVS defaults.</a:t>
            </a:r>
          </a:p>
          <a:p>
            <a:pPr>
              <a:spcAft>
                <a:spcPts val="8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✓ 1 District Dealer Pilot: </a:t>
            </a:r>
            <a:r>
              <a:rPr sz="950" b="0">
                <a:solidFill>
                  <a:srgbClr val="334155"/>
                </a:solidFill>
                <a:latin typeface="Calibri"/>
              </a:rPr>
              <a:t>Pilot deployment with 5 rural two-wheeler / tractor dealer touchpoints in 1 district.</a:t>
            </a:r>
          </a:p>
          <a:p>
            <a:pPr>
              <a:spcAft>
                <a:spcPts val="8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✓ Regulatory Sandbox Sponsorship: </a:t>
            </a:r>
            <a:r>
              <a:rPr sz="950" b="0">
                <a:solidFill>
                  <a:srgbClr val="334155"/>
                </a:solidFill>
                <a:latin typeface="Calibri"/>
              </a:rPr>
              <a:t>Partner sponsorship for joint submission to the RBI On-Tap Regulatory Sandbox.</a:t>
            </a:r>
          </a:p>
          <a:p>
            <a:pPr>
              <a:spcAft>
                <a:spcPts val="8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✓ Underwriter Mentorship: </a:t>
            </a:r>
            <a:r>
              <a:rPr sz="950" b="0">
                <a:solidFill>
                  <a:srgbClr val="334155"/>
                </a:solidFill>
                <a:latin typeface="Calibri"/>
              </a:rPr>
              <a:t>2 hours/week feedback from a senior underwriter for 4 weeks to refine reason-code taxonomy.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LIVE DEMONSTRATION GUIDE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Live demo · 4-minute walkthrough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Follow this exact sequence during the live jury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9692640" cy="7772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1371600" cy="50292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0:00 – 0:45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039112"/>
            <a:ext cx="8001000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B2545"/>
                </a:solidFill>
                <a:latin typeface="Calibri"/>
              </a:defRPr>
            </a:pPr>
            <a:r>
              <a:t>1. Dealer Loan Application: </a:t>
            </a:r>
            <a:r>
              <a:rPr sz="900" b="0">
                <a:solidFill>
                  <a:srgbClr val="334155"/>
                </a:solidFill>
                <a:latin typeface="Calibri"/>
              </a:rPr>
              <a:t>Open #/apply as a dealer in Tamil Nadu. Fill 12 fields (or click 'Load Demo Applicant'). Watch instant score calculation (645), approval decision, and top-3 SHAP positive &amp; negative drivers.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34639"/>
            <a:ext cx="9692640" cy="777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971799"/>
            <a:ext cx="1371600" cy="502920"/>
          </a:xfrm>
          <a:prstGeom prst="roundRect">
            <a:avLst/>
          </a:prstGeom>
          <a:solidFill>
            <a:srgbClr val="0B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0:45 – 1:45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907791"/>
            <a:ext cx="8001000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B2545"/>
                </a:solidFill>
                <a:latin typeface="Calibri"/>
              </a:defRPr>
            </a:pPr>
            <a:r>
              <a:t>2. Multilingual Assistant: </a:t>
            </a:r>
            <a:r>
              <a:rPr sz="900" b="0">
                <a:solidFill>
                  <a:srgbClr val="334155"/>
                </a:solidFill>
                <a:latin typeface="Calibri"/>
              </a:rPr>
              <a:t>Switch to #/assistant. Ask in Hinglish: 'Will I get ₹3 lakh for a tractor in Madurai with 4.5 acres?' Assistant parses intent, calls live scoring tool, and returns loan terms, EMI, and required documents.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9692640" cy="7772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3840480"/>
            <a:ext cx="1371600" cy="502920"/>
          </a:xfrm>
          <a:prstGeom prst="round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1:45 – 2:45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776472"/>
            <a:ext cx="8001000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B2545"/>
                </a:solidFill>
                <a:latin typeface="Calibri"/>
              </a:defRPr>
            </a:pPr>
            <a:r>
              <a:t>3. Underwriter Command Hub: </a:t>
            </a:r>
            <a:r>
              <a:rPr sz="900" b="0">
                <a:solidFill>
                  <a:srgbClr val="334155"/>
                </a:solidFill>
                <a:latin typeface="Calibri"/>
              </a:rPr>
              <a:t>Open #/dashboard. Review nationwide portfolio KPIs (avg score 645, 42.6% approval), interactive India risk heatmap by state, and real-time streaming applicant feed.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72000"/>
            <a:ext cx="9692640" cy="7772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4709160"/>
            <a:ext cx="1371600" cy="50292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2:45 – 3:30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4645152"/>
            <a:ext cx="8001000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B2545"/>
                </a:solidFill>
                <a:latin typeface="Calibri"/>
              </a:defRPr>
            </a:pPr>
            <a:r>
              <a:t>4. Fraud &amp; DLG Audit Trail: </a:t>
            </a:r>
            <a:r>
              <a:rPr sz="900" b="0">
                <a:solidFill>
                  <a:srgbClr val="334155"/>
                </a:solidFill>
                <a:latin typeface="Calibri"/>
              </a:rPr>
              <a:t>Click on a flagged high-risk application. Inspect Isolation Forest anomaly score, rule chips (geo mismatch, SIM age), and full DLG-2025 regulatory evidence trail.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40679"/>
            <a:ext cx="969264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5577839"/>
            <a:ext cx="1371600" cy="50292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3:30 – 4:00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5513831"/>
            <a:ext cx="8001000" cy="630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B2545"/>
                </a:solidFill>
                <a:latin typeface="Calibri"/>
              </a:defRPr>
            </a:pPr>
            <a:r>
              <a:t>5. Closing &amp; Feedback: </a:t>
            </a:r>
            <a:r>
              <a:rPr sz="900" b="0">
                <a:solidFill>
                  <a:srgbClr val="334155"/>
                </a:solidFill>
                <a:latin typeface="Calibri"/>
              </a:rPr>
              <a:t>Summarize 60-second decision TAT and compliance advantages. Open floor for jury questions and technical deep dive.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OFFICIAL COVER RESPONSE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Executive brief (200-word response)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Official three-paragraph submission response for the TVS Credit E.P.I.C 8 evaluation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9692640" cy="13258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30552"/>
            <a:ext cx="9363456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B91C1C"/>
                </a:solidFill>
                <a:latin typeface="Calibri"/>
              </a:defRPr>
            </a:pPr>
            <a:r>
              <a:t>1. Problem &amp; Context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Roughly 9 in 10 landless Indian farmers and 7 in 10 marginal farmers have no formal credit history (NABARD NAFIS 2021–22), while rural credit decisioning takes 2–4 weeks. The data to solve this — satellite imagery, rainfall feeds, land records — exists, but has never been unified into an automated, explainable lending decision that an underwriter can execute in under 60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83280"/>
            <a:ext cx="9692640" cy="13258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547872"/>
            <a:ext cx="9363456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B2545"/>
                </a:solidFill>
                <a:latin typeface="Calibri"/>
              </a:defRPr>
            </a:pPr>
            <a:r>
              <a:t>2. Regulatory &amp; Market Insight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Bureau-first credit scoring is the wrong tool for thin-file rural India. RBI's FREE-AI 7 Sutras and Digital Lending Directions 2025 explicitly mandate explainable AI and prohibit DLG substitution for underwriting rigour. Every major competitor (Bajaj, Jio Financial, Airtel, Credila) is urban-first and salaried-first, leaving rural satellite-credit entirely open.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00600"/>
            <a:ext cx="9692640" cy="13258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965192"/>
            <a:ext cx="9363456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B8A44"/>
                </a:solidFill>
                <a:latin typeface="Calibri"/>
              </a:defRPr>
            </a:pPr>
            <a:r>
              <a:t>3. Saarthi Solution &amp; Proof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Saarthi is a 4-module Smart Lending Decision Hub: XGBoost credit scoring with SHAP explainers, fraud anomaly detection, a Hindi-English GenAI assistant with function calling, and an underwriter dashboard with an India risk heatmap. Trained on 5,000 synthetic applicants, live now, RBI DLG-2025 ready, and built to deliver a 60-second explainable loan decision.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958453"/>
            <a:ext cx="10312400" cy="57201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868680"/>
            <a:ext cx="804672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B8A44"/>
                </a:solidFill>
                <a:latin typeface="Calibri"/>
              </a:defRPr>
            </a:pPr>
            <a:r>
              <a:t>SUBMISSION SUMMARY &amp; CONCLUSION</a:t>
            </a:r>
          </a:p>
          <a:p>
            <a:pPr>
              <a:spcAft>
                <a:spcPts val="200"/>
              </a:spcAft>
              <a:defRPr sz="2000" b="1">
                <a:solidFill>
                  <a:srgbClr val="0B2545"/>
                </a:solidFill>
                <a:latin typeface="Calibri"/>
              </a:defRPr>
            </a:pPr>
            <a:r>
              <a:t>Thank you · Questions &amp; discussion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Saarthi is ready for deployment: 60-second TAT, DLG 2025 compliance, and proven satellite alternative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0"/>
            <a:ext cx="77724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Saarthi · AI-Powered Smart Lending Decision Hub · TVS Credit EPIC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6766560"/>
            <a:ext cx="1188720" cy="27432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4663440" cy="4297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42062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B8A44"/>
                </a:solidFill>
                <a:latin typeface="Calibri"/>
              </a:defRPr>
            </a:pPr>
            <a:r>
              <a:t>SAARTHI VALUE PROPOSITION</a:t>
            </a:r>
          </a:p>
          <a:p>
            <a:pPr>
              <a:spcAft>
                <a:spcPts val="1200"/>
              </a:spcAft>
              <a:defRPr sz="1400" b="1">
                <a:solidFill>
                  <a:srgbClr val="0B2545"/>
                </a:solidFill>
                <a:latin typeface="Calibri"/>
              </a:defRPr>
            </a:pPr>
            <a:r>
              <a:t>The Digital Charioteer for Rural Inclusion</a:t>
            </a:r>
          </a:p>
          <a:p>
            <a:pPr>
              <a:spcAft>
                <a:spcPts val="6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⚡ 60-Second Credit TAT: </a:t>
            </a:r>
            <a:r>
              <a:rPr sz="950" b="0">
                <a:solidFill>
                  <a:srgbClr val="334155"/>
                </a:solidFill>
                <a:latin typeface="Calibri"/>
              </a:rPr>
              <a:t>Transforms traditional 2–4 week manual loan appraisal into an automated 60-second decision.</a:t>
            </a:r>
          </a:p>
          <a:p>
            <a:pPr>
              <a:spcAft>
                <a:spcPts val="6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🛰️ Satellite Alternative Scorer: </a:t>
            </a:r>
            <a:r>
              <a:rPr sz="950" b="0">
                <a:solidFill>
                  <a:srgbClr val="334155"/>
                </a:solidFill>
                <a:latin typeface="Calibri"/>
              </a:rPr>
              <a:t>Overcomes the thin-file barrier for 90% of landless and marginal farmers with Sentinel-2 NDVI.</a:t>
            </a:r>
          </a:p>
          <a:p>
            <a:pPr>
              <a:spcAft>
                <a:spcPts val="6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⚖️ Born DLG-2025 &amp; FREE-AI Compliant: </a:t>
            </a:r>
            <a:r>
              <a:rPr sz="950" b="0">
                <a:solidFill>
                  <a:srgbClr val="334155"/>
                </a:solidFill>
                <a:latin typeface="Calibri"/>
              </a:rPr>
              <a:t>Per-decision SHAP explainability cards, 5% FLDG cap enforcement, and immutable audit logs.</a:t>
            </a:r>
          </a:p>
          <a:p>
            <a:pPr>
              <a:spcAft>
                <a:spcPts val="6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🤖 Vernacular GenAI Experience: </a:t>
            </a:r>
            <a:r>
              <a:rPr sz="950" b="0">
                <a:solidFill>
                  <a:srgbClr val="334155"/>
                </a:solidFill>
                <a:latin typeface="Calibri"/>
              </a:rPr>
              <a:t>Accessible Hindi-English conversational interface with tool calling and grounded product RAG.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1965960"/>
            <a:ext cx="4846320" cy="4297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23560" y="2194560"/>
            <a:ext cx="438912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B8A44"/>
                </a:solidFill>
                <a:latin typeface="Calibri"/>
              </a:defRPr>
            </a:pPr>
            <a:r>
              <a:t>SUBMISSION DETAILS &amp; LIVE LINKS</a:t>
            </a:r>
          </a:p>
          <a:p>
            <a:pPr>
              <a:spcAft>
                <a:spcPts val="1200"/>
              </a:spcAft>
              <a:defRPr sz="1400" b="1">
                <a:solidFill>
                  <a:srgbClr val="0B2545"/>
                </a:solidFill>
                <a:latin typeface="Calibri"/>
              </a:defRPr>
            </a:pPr>
            <a:r>
              <a:t>Team Saarthi · VIT Chennai</a:t>
            </a:r>
          </a:p>
          <a:p>
            <a:pPr>
              <a:spcAft>
                <a:spcPts val="6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Presenter: </a:t>
            </a:r>
            <a:r>
              <a:rPr sz="950" b="0">
                <a:solidFill>
                  <a:srgbClr val="334155"/>
                </a:solidFill>
                <a:latin typeface="Calibri"/>
              </a:rPr>
              <a:t>Rakshith Ganjimut (B.Tech CSE AI &amp; Robotics 2024–28)</a:t>
            </a:r>
          </a:p>
          <a:p>
            <a:pPr>
              <a:spcAft>
                <a:spcPts val="6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Source Repository: </a:t>
            </a:r>
            <a:r>
              <a:rPr sz="950" b="0">
                <a:solidFill>
                  <a:srgbClr val="334155"/>
                </a:solidFill>
                <a:latin typeface="Calibri"/>
              </a:rPr>
              <a:t>github.com/Rakshi2609/Saarthi</a:t>
            </a:r>
          </a:p>
          <a:p>
            <a:pPr>
              <a:spcAft>
                <a:spcPts val="6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Interactive Frontend: </a:t>
            </a:r>
            <a:r>
              <a:rPr sz="950" b="0">
                <a:solidFill>
                  <a:srgbClr val="334155"/>
                </a:solidFill>
                <a:latin typeface="Calibri"/>
              </a:rPr>
              <a:t>http://localhost:5173 (#/apply, #/assistant, #/dashboard)</a:t>
            </a:r>
          </a:p>
          <a:p>
            <a:pPr>
              <a:spcAft>
                <a:spcPts val="6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FastAPI Backend: </a:t>
            </a:r>
            <a:r>
              <a:rPr sz="950" b="0">
                <a:solidFill>
                  <a:srgbClr val="334155"/>
                </a:solidFill>
                <a:latin typeface="Calibri"/>
              </a:rPr>
              <a:t>http://localhost:8000 (Interactive docs at /docs)</a:t>
            </a:r>
          </a:p>
          <a:p>
            <a:pPr>
              <a:spcAft>
                <a:spcPts val="600"/>
              </a:spcAft>
              <a:defRPr sz="1000" b="1">
                <a:solidFill>
                  <a:srgbClr val="0B2545"/>
                </a:solidFill>
                <a:latin typeface="Calibri"/>
              </a:defRPr>
            </a:pPr>
            <a:r>
              <a:t>▸ Ready for Pilot: </a:t>
            </a:r>
            <a:r>
              <a:rPr sz="950" b="0">
                <a:solidFill>
                  <a:srgbClr val="334155"/>
                </a:solidFill>
                <a:latin typeface="Calibri"/>
              </a:rPr>
              <a:t>1 district · 5 dealer branches · 30 days calibration</a:t>
            </a:r>
          </a:p>
          <a:p>
            <a:pPr>
              <a:spcAft>
                <a:spcPts val="600"/>
              </a:spcAft>
              <a:defRPr sz="850">
                <a:solidFill>
                  <a:srgbClr val="BFDBFE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</a:t>
            </a:r>
          </a:p>
          <a:p>
            <a:pPr algn="ctr">
              <a:defRPr sz="1000" b="1">
                <a:solidFill>
                  <a:srgbClr val="E85D04"/>
                </a:solidFill>
                <a:latin typeface="Calibri"/>
              </a:defRPr>
            </a:pPr>
            <a:r>
              <a:t>We look forward to your questions and the Round 3 demonstration!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2026-08-25T08:54:20Z</dcterms:created>
  <dcterms:modified xsi:type="dcterms:W3CDTF">2026-08-25T08:54:20Z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v10.0.20070.1</vt:lpwstr>
  </property>
  <property fmtid="{D5CDD505-2E9C-101B-9397-08002B2CF9AE}" pid="3" name="Created">
    <vt:filetime>2026-08-25T00:00:00Z</vt:filetime>
  </property>
  <property fmtid="{D5CDD505-2E9C-101B-9397-08002B2CF9AE}" pid="4" name="LastSaved">
    <vt:filetime>2026-08-25T00:00:00Z</vt:filetime>
  </property>
  <property fmtid="{D5CDD505-2E9C-101B-9397-08002B2CF9AE}" pid="5" name="Producer">
    <vt:lpwstr>3-Heights(TM) PDF Security Shell 4.8.25.2 (http://www.pdf-tools.com)</vt:lpwstr>
  </property>
</Properties>
</file>