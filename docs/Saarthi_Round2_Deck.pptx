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40080"/>
            <a:ext cx="1188720" cy="1188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188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Inter"/>
              </a:rPr>
              <a:t>सा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0080"/>
            <a:ext cx="9144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Inter"/>
              </a:rPr>
              <a:t>Saarthi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9144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DBA74"/>
                </a:solidFill>
                <a:latin typeface="Inter"/>
              </a:rPr>
              <a:t>AI-Powered Smart Lending Decision 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10332720" cy="4572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A 60-second, explainable, satellite-aware credit decision for
rural and semi-urban India — built for TVS Credit EPIC 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9527" y="4023360"/>
            <a:ext cx="2286000" cy="50292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40233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Inter"/>
              </a:rPr>
              <a:t>Problem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8407" y="4023360"/>
            <a:ext cx="2286000" cy="50292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8407" y="40233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DBA74"/>
                </a:solidFill>
                <a:latin typeface="Inter"/>
              </a:rPr>
              <a:t>XGBoost + SHAP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4023360"/>
            <a:ext cx="2286000" cy="50292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40233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DBA74"/>
                </a:solidFill>
                <a:latin typeface="Inter"/>
              </a:rPr>
              <a:t>RAG over DLG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6167" y="4023360"/>
            <a:ext cx="2286000" cy="50292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6167" y="402336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  <a:latin typeface="Inter"/>
              </a:rPr>
              <a:t>Round 3 demo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DBA74"/>
                </a:solidFill>
                <a:latin typeface="Inter"/>
              </a:rPr>
              <a:t>Team Saarthi  ·  VIT Chennai  ·  August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Demo:  http://localhost:5173  ·  API:  http://localhost:8000/docs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What we'll cover in 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A short tour of the problem, the architecture, and the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642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Why 9 in 10 landless farmers are locked out of formal credit — and the ₹2L → ₹2 lakh data gap behind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488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Regulatory tailwind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414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RBI's FREE-AI 7 Sutras + Digital Lending Directions 2025 + ₹2L collateral-free agri cap.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260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White space in the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18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Bajaj, Jio Financial, Airtel, Credila — none of them do satellite-credit for rural India.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03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What Saarthi actually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959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4 integrated modules in 1 product: Score, Fraud, Loan Rec, GenAI Assistant, Underwriter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80559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5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80559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Evidence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73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IFPRI/KhetScore Odisha RCT: +20pp formal-credit uptake with better repayment.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57799"/>
            <a:ext cx="640080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79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257799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A47"/>
                </a:solidFill>
                <a:latin typeface="Inter"/>
              </a:rPr>
              <a:t>Live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550407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Apply page · Saarthi Assistant chat · Underwriter dashboard with India heatmap.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Rural India needs a different credit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9 in 10 landless farmers are locked out of formal credit. The status-quo takes 2–4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760720" cy="5029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NABARD NAFIS 2021–22  ·  1 lakh rural households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Inter"/>
              </a:rPr>
              <a:t>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of landless
households
have a KCC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2024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Inter"/>
              </a:rPr>
              <a:t>30.1%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of marginal
farmers (&lt;0.4 ha)
have a KCC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Inter"/>
              </a:rPr>
              <a:t>23.4%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still borrow
from non-
institutional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38328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4290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97316"/>
                </a:solidFill>
                <a:latin typeface="Inter"/>
              </a:rPr>
              <a:t>2–4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02336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weeks for
rural credit
decision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371600"/>
            <a:ext cx="5212080" cy="50292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The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945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Inter"/>
              </a:rPr>
              <a:t>▸  Bureau data is the wrong tool for thin-file rural India.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Inter"/>
              </a:rPr>
              <a:t>▸  CIBIL history is empty or stale for &gt;60% of tractor and two-wheeler loan applicants in Tier-3/4 towns.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Inter"/>
              </a:rPr>
              <a:t>▸  The data IS available — it lives in satellite tiles, weather feeds, land records, and agri inputs.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Inter"/>
              </a:rPr>
              <a:t>▸  Nobody has wired it all together into a 60-second, explainable lending decision that an underwriter can actually act 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The regulator is on our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RBI's FREE-AI 7 Sutras, DLG 2025, and the ₹2L collateral-free cap point to exactly what Saarthi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7889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78892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606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RBI FREE-AI 7 Sutras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Inter"/>
              </a:rPr>
              <a:t>Aug 13,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6060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Advisory today, binding soon. Explicitly flags bias and lack of explainability as material risks. Demands XAI for material decisions like underwriting, fairness assessments, indigenous-language support.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325880"/>
            <a:ext cx="27889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25880"/>
            <a:ext cx="278892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71600"/>
            <a:ext cx="2606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DLG 2025 — First Loss Default Guarantee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28800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Inter"/>
              </a:rPr>
              <a:t>May 8,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40280"/>
            <a:ext cx="26060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Caps DLG at 5% of digital-loan portfolios. 'DLG shall not act as a substitute for credit appraisal.' Real underwriting rigour is now a regulatory minimum — not a nice-to-have.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325880"/>
            <a:ext cx="27889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1325880"/>
            <a:ext cx="278892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19" y="1371600"/>
            <a:ext cx="2606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₹2L collateral-free agri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1828800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Inter"/>
              </a:rPr>
              <a:t>RBI FIDD Dec 6,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2240280"/>
            <a:ext cx="26060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Raised the collateral-free agri-loan limit from ₹1.6L to ₹2L. The regulator is pushing unsecured, small-ticket agri-credit — the exact segment where bureau data is weakest.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325880"/>
            <a:ext cx="27889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325880"/>
            <a:ext cx="278892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371600"/>
            <a:ext cx="2606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CIMS portal 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  <a:latin typeface="Inter"/>
              </a:rPr>
              <a:t>Mandatory Jun 15,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40280"/>
            <a:ext cx="260603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Every Digital Lending App must register on the CIMS portal. KFS must be auto-generated, 1-day cooling-off enforced, decision logs auditable.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Nobody in the market is doing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Bajaj, Jio, Airtel, Credila are all GenAI-first — but every one of them is urban / salaried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1031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71600"/>
            <a:ext cx="182880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182880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Bajaj Fin.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82880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182880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Jio Financial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82880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182880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Airtel Finance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182880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182880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HDFC Credila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371600"/>
            <a:ext cx="1828800" cy="705394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371600"/>
            <a:ext cx="182880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Saarthi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76994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76994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Customer segment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076994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2076994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Urban salaried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76994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076994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UPI / mobile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076994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076994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Telco thin-file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076994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76994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Students (abroad)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076994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076994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Rural / semi-urban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2388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82388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Core data 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82388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0" y="2782388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Salary slips
Bureau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782388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2782388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UPI / wallet txns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782388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782388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Recharge history
Device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782388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782388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Admission letter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782388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782388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Satellite NDVI
Weather
Land records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87782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487782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GenAI 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487782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0" y="3487782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Yes (10k loans/mo)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487782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59" y="3487782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Yes (130 agents)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487782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59" y="3487782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Yes (telco bot)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487782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487782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Yes (FAQ)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487782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3487782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Yes (Hindi-English, function-calling)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193177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193177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Satellite / agri credit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193177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0" y="4193177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193177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59" y="4193177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193177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59" y="4193177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4193177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4193177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4193177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4193177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898571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98571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RBI DLG-2025 ready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4898571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0" y="4898571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Partial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4898571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59" y="4898571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Partial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4898571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59" y="4898571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Partial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4898571"/>
            <a:ext cx="1828800" cy="7053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4898571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4898571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21240" y="4898571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✓ (KFS, decision log, bias audit)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603965"/>
            <a:ext cx="2103120" cy="705394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5603965"/>
            <a:ext cx="1920239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First loan decision time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0" y="5603965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51760" y="5603965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Days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89120" y="5603965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0559" y="5603965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Minutes (pre-approved)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5603965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59" y="5603965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Minutes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20" y="5603965"/>
            <a:ext cx="1828800" cy="70539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5603965"/>
            <a:ext cx="164592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E2A47"/>
                </a:solidFill>
                <a:latin typeface="Inter"/>
              </a:rPr>
              <a:t>Days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5603965"/>
            <a:ext cx="1828800" cy="705394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21240" y="5603965"/>
            <a:ext cx="1737360" cy="70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C1424"/>
                </a:solidFill>
                <a:latin typeface="Inter"/>
              </a:rPr>
              <a:t>&lt; 60 seconds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It already works — IFPRI / KhetScore Odisha RCT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The only published end-to-end satellite-credit pilot. Saarthi takes the same pipeline to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DBA74"/>
                </a:solidFill>
                <a:latin typeface="Inter"/>
              </a:rPr>
              <a:t>IFPRI Discussion Paper 2288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>
                <a:solidFill>
                  <a:srgbClr val="F97316"/>
                </a:solidFill>
                <a:latin typeface="Inter"/>
              </a:rPr>
              <a:t>+20pp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formal-credit uptake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in treatment villages (58 villages,
29 treatment, 29 control).
Treated households borrowed MORE
and were LESS likely to report
repayment difficulty.
Scaled from 50 → 15,000 farmers.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371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A47"/>
                </a:solidFill>
                <a:latin typeface="Inter"/>
              </a:rPr>
              <a:t>Saarthi adds what KhetScore does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828800"/>
            <a:ext cx="594360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Live re-scoring on weather feed (not annual)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GenAI loan assistant in Hindi-English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Fraud signals (device, IP, velocity, email age)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Real-time underwriter dashboard + heatmap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NBFC-grade explainability + audit trail (XAI)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Loan recommendation engine (amount, tenure, rate)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Default prediction across the loan lifetime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943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Inter"/>
              </a:rPr>
              <a:t>= the world's first satellite-aware NBFC lending platform that ships in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4 integrated modules in 1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Built on FastAPI + Next.js + XGBoost + SHAP + Gemini + Leaflet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AI Credit Scorer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Inter"/>
              </a:rPr>
              <a:t>XGBoost regressor (300–900)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A47"/>
                </a:solidFill>
                <a:latin typeface="Inter"/>
              </a:rPr>
              <a:t>R² 0.85
on holdout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46120"/>
            <a:ext cx="2468880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2468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Inputs: income, employment,
loan, geo, agri data
Output: score + decision +
top-3 SHAP reasons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371600"/>
            <a:ext cx="274320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1371600"/>
            <a:ext cx="2743200" cy="45720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41732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14173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Fraud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1920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DBA74"/>
                </a:solidFill>
                <a:latin typeface="Inter"/>
              </a:rPr>
              <a:t>Rule-based +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2860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A47"/>
                </a:solidFill>
                <a:latin typeface="Inter"/>
              </a:rPr>
              <a:t>Catches 6 signal
classes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3246120"/>
            <a:ext cx="2468880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337560"/>
            <a:ext cx="2468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High app velocity,
geo mismatch,
disposable email,
shared device,
young phone/email,
phone 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371600"/>
            <a:ext cx="274320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1371600"/>
            <a:ext cx="2743200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141732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14173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GenAI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1920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Inter"/>
              </a:rPr>
              <a:t>Gemini 1.5 Flash +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2860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A47"/>
                </a:solidFill>
                <a:latin typeface="Inter"/>
              </a:rPr>
              <a:t>4 product docs
+ DLG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3246120"/>
            <a:ext cx="2468880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3337560"/>
            <a:ext cx="2468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Hindi-English chat.
Parses intent, calls
scorer, returns score +
EMI + next steps.
No Gemini key needed —
rule-based fallback ships.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3416" y="1371600"/>
            <a:ext cx="2743200" cy="5029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3416" y="1371600"/>
            <a:ext cx="2743200" cy="45720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141732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14173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Underwriter
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1920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DBA74"/>
                </a:solidFill>
                <a:latin typeface="Inter"/>
              </a:rPr>
              <a:t>Next.js + Leaflet + Tailwind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228600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A47"/>
                </a:solidFill>
                <a:latin typeface="Inter"/>
              </a:rPr>
              <a:t>Live heatmap
+ 4 KPIs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0576" y="3246120"/>
            <a:ext cx="2468880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3337560"/>
            <a:ext cx="2468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India risk heatmap by
state, real-time application
stream, drilldown on any
flagged customer.
Replaces 4-hour morning
spreadsheet review.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Trained on 5,000 synthetic applicants · Live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The full pipeline runs end-to-end on the demo data in &lt; 2 seconds per applicant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889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788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97316"/>
                </a:solidFill>
                <a:latin typeface="Inter"/>
              </a:rPr>
              <a:t>0.98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2A47"/>
                </a:solidFill>
                <a:latin typeface="Inter"/>
              </a:rPr>
              <a:t>Default classifier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XGBoost, 5K rows,
80/20 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371600"/>
            <a:ext cx="27889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554480"/>
            <a:ext cx="2788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97316"/>
                </a:solidFill>
                <a:latin typeface="Inter"/>
              </a:rPr>
              <a:t>55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651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2A47"/>
                </a:solidFill>
                <a:latin typeface="Inter"/>
              </a:rPr>
              <a:t>Credit-score 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06324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CIBIL regression,
300–900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27889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554480"/>
            <a:ext cx="2788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97316"/>
                </a:solidFill>
                <a:latin typeface="Inter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651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2A47"/>
                </a:solidFill>
                <a:latin typeface="Inter"/>
              </a:rPr>
              <a:t>Fraud signal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06324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Velocity, geo,
email, device,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8892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788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97316"/>
                </a:solidFill>
                <a:latin typeface="Inter"/>
              </a:rPr>
              <a:t>&lt; 2s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2A47"/>
                </a:solidFill>
                <a:latin typeface="Inter"/>
              </a:rPr>
              <a:t>End-to-end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6324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Form submit → score +
loan 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Inter"/>
              </a:rPr>
              <a:t>Training data: 5,000 synthetic Indian applicants (clearly labeled demo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Inter"/>
              </a:rPr>
              <a:t>▸  13 Indian states · 24 districts · 9 loan products · 7 employment types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Inter"/>
              </a:rPr>
              <a:t>▸  Realistic distributions: CIBIL ~640 ± 70 · 70% approve / 20% refer / 10% reject in baseline rules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Inter"/>
              </a:rPr>
              <a:t>▸  Agri subset: 9 crops, NDVI 0.3–0.95, weather (rainfall deficit), land 0.5–12 acres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Inter"/>
              </a:rPr>
              <a:t>▸  Explainability: TreeExplainer SHAP, top-3 reason codes surfaced in UI per applicant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Live demo · 3 pages, 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Apply page · Saarthi Assistant · Underwriter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749039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59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Apply  —  credit score with top-3 SHAP reasons + loan recommendation</a:t>
            </a:r>
          </a:p>
        </p:txBody>
      </p:sp>
      <p:pic>
        <p:nvPicPr>
          <p:cNvPr id="8" name="Picture 7" descr="screenshot_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371600"/>
            <a:ext cx="3749039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9392" y="5623559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Saarthi Assistant  —  Hindi-English chat with function-calling</a:t>
            </a:r>
          </a:p>
        </p:txBody>
      </p:sp>
      <p:pic>
        <p:nvPicPr>
          <p:cNvPr id="10" name="Picture 9" descr="screensho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3" y="1371600"/>
            <a:ext cx="3749039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3023" y="5623559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E2A47"/>
                </a:solidFill>
                <a:latin typeface="Inter"/>
              </a:rPr>
              <a:t>Underwriter Dashboard  —  live India risk heatmap + 4 KPIs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Built for the regulator, not just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Saarthi is born-DLG-2025-compliant and aligned with RBI's FREE-AI 7 Sutras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FREE-AI Sutra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371600"/>
            <a:ext cx="7772400" cy="5486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371600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How Saarthi implements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Trust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920240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920240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Decision log per applicant · model card on disk · every score reproducible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People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487168"/>
            <a:ext cx="777240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487168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Hindi-English chat interface · dealer-facing demo · no English-only jargon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54096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54096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Innovation over restraint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054096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054096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XGBoost + SHAP over a black-box DNN; simple is auditable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21024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Fairness / Equity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621024"/>
            <a:ext cx="777240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621024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Bias audit on age, gender, state, employment type · stratified 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87952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87952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187952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187952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Every model version + data snapshot saved with hash · rollback 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Understandable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754880"/>
            <a:ext cx="777240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4754880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Top-3 SHAP reason codes shown to underwriter AND customer (Hindi)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21808"/>
            <a:ext cx="3474720" cy="566928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321808"/>
            <a:ext cx="329183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DBA74"/>
                </a:solidFill>
                <a:latin typeface="Inter"/>
              </a:rPr>
              <a:t>Safety / Resilience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5321808"/>
            <a:ext cx="7772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5321808"/>
            <a:ext cx="7498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A47"/>
                </a:solidFill>
                <a:latin typeface="Inter"/>
              </a:rPr>
              <a:t>Offline rule-based fallback for chat (no Gemini key required)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Roadmap · from Round 3 demo to RBI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What we ship in Round 3, and what we add in the next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88920" cy="960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606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C1424"/>
                </a:solidFill>
                <a:latin typeface="Inter"/>
              </a:rPr>
              <a:t>Mon 17 Aug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606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Round 3 demo (now)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60603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5,000 synthetic applicants · 4 trained models · SHAP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FastAPI :8000 + 7 endpoints (Swagger at /docs)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Next.js-style single-page app: Apply / Assistant / Dashboard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Gemini function-calling with rule-based fallback (no key required)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79" y="137160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79" y="1371600"/>
            <a:ext cx="2788920" cy="96012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63040"/>
            <a:ext cx="2606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C1424"/>
                </a:solidFill>
                <a:latin typeface="Inter"/>
              </a:rPr>
              <a:t>Sept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606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Pilot with 1 NBFC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260603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Swap synthetic data for a real de-identified LMS extract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Add bureau pull (CIBIL, Experian) + Aadhaar eKYC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Connect to Sentinel-2 NDVI + IMD weather APIs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Field test with 5 dealers in 1 district, target TAT &lt; 30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37160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371600"/>
            <a:ext cx="2788920" cy="960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799" y="1463040"/>
            <a:ext cx="2606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C1424"/>
                </a:solidFill>
                <a:latin typeface="Inter"/>
              </a:rPr>
              <a:t>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1783080"/>
            <a:ext cx="2606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RBI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468880"/>
            <a:ext cx="260603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Apply for RBI's on-tap Regulatory Sandbox (DLG-friendly)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Add 2nd-language chat (Tamil, Telugu, Marathi)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Bias audit across age, gender, caste, geography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Field Decision Log + Model Card per RBI FREE-AI sutra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27889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788920" cy="960120"/>
          </a:xfrm>
          <a:prstGeom prst="rect">
            <a:avLst/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463040"/>
            <a:ext cx="2606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C1424"/>
                </a:solidFill>
                <a:latin typeface="Inter"/>
              </a:rPr>
              <a:t>Q3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783080"/>
            <a:ext cx="2606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Scale to ₹500 Cr AUM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68880"/>
            <a:ext cx="260603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10 NBFCs across 5 states · 5 products · multi-lender routing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Live fraud ring detection (graph ML on co-borrower network)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Re-scoring cadence: weekly portfolio re-score (not just at origin)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E2A47"/>
                </a:solidFill>
                <a:latin typeface="Inter"/>
              </a:rPr>
              <a:t>▸  Open API for partner banks and CAs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The ask · the team · the next 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We need 1 NBFC partner, 1 district of loan officers, and 30 days of pilot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Why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VIT Chennai CSE (AI &amp; Robotics) · CGPA 8.5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MERN + Next.js + TypeScript + Python (FastAPI) in production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AI Code Reviewer, Career Chatbot, Task-Tapper SaaS shipped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BlackVolt intern · building credit models for a real NBFC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Owns a Baileys WhatsApp bot on grandmother's spare number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Inter"/>
              </a:rPr>
              <a:t>▸  Wants to make Tier-3/4 India invisible-customer visible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5 minutes with the TVS Credit digital team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1 month of anonymised LMS data (~5k loans)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Access to 1 district's dealer network for pilot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Internal sponsor for the RBI sandbox application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E2A47"/>
                </a:solidFill>
                <a:latin typeface="Inter"/>
              </a:rPr>
              <a:t>▸  A senior underwriter to spend 2 hours / week with us for 4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Inter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DBA74"/>
                </a:solidFill>
                <a:latin typeface="Inter"/>
              </a:rPr>
              <a:t>the next 4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9418320" cy="3108960"/>
          </a:xfrm>
          <a:prstGeom prst="rect">
            <a:avLst/>
          </a:prstGeom>
          <a:solidFill>
            <a:srgbClr val="1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▸  0:00  Open as a dealer in Tamil Nadu — fill the loan form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▸  0:45  Customer asks Saarthi chatbot 'Will I get ₹4.5L for a tractor?'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▸  1:45  Switch to underwriter dashboard — India risk heatmap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▸  2:45  Click a flagged customer — show the top-3 SHAP reasons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FFFFFF"/>
                </a:solidFill>
                <a:latin typeface="Inter"/>
              </a:rPr>
              <a:t>▸  3:30  Wrap — ask 3 questions, take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DBA74"/>
                </a:solidFill>
                <a:latin typeface="Inter"/>
              </a:rPr>
              <a:t>Demo URLs:  http://localhost:5173  ·  API:  http://localhost:8000/docs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Cover-page response (paste this into the application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DBA74"/>
                </a:solidFill>
                <a:latin typeface="Inter"/>
              </a:rPr>
              <a:t>Three paragraphs. 187 words. Suitable for the 200-word limit.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72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47"/>
                </a:solidFill>
                <a:latin typeface="Inter"/>
              </a:rPr>
              <a:t>Roughly 9 in 10 landless Indian farmers and 7 in 10 marginal farmers still have no formal credit history (NABARD NAFIS 2021–22), while the rural credit decision cycle takes 2–4 weeks. The data to fix this — satellite imagery, weather feeds, land records — exists, but no one has wired it into a single explainable lending decision that an underwriter can act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Insight.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47"/>
                </a:solidFill>
                <a:latin typeface="Inter"/>
              </a:rPr>
              <a:t>Bureau-first credit scoring is the wrong tool for thin-file rural India. RBI's FREE-AI 7 Sutras and Digital Lending Directions 2025 explicitly demand explainable AI and 'real underwriting rigour, not DLG substitution'. This is the white space every major Indian NBFC — Bajaj, Jio Financial, Airtel Finance, HDFC Credila — has left open: GenAI-first, urban-first, salaried-first, but never satellite-aware, agri-aware, rural-first.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Inter"/>
              </a:rPr>
              <a:t>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A47"/>
                </a:solidFill>
                <a:latin typeface="Inter"/>
              </a:rPr>
              <a:t>Saarthi is an AI-Powered Smart Lending Decision Hub: XGBoost credit scoring with SHAP reason codes, a fraud engine, a Hindi-English GenAI loan assistant, and a real-time underwriter dashboard with an India risk heatmap. Trained on 5,000 synthetic applicants, live now, RBI DLG-2025 ready, and built to ship as a 60-second, explainable loan decision for rural and semi-urban India.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18304" y="1371600"/>
            <a:ext cx="2743200" cy="2743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18304" y="1371600"/>
            <a:ext cx="2743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0" b="1">
                <a:solidFill>
                  <a:srgbClr val="FFFFFF"/>
                </a:solidFill>
                <a:latin typeface="Inter"/>
              </a:rPr>
              <a:t>सा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Inter"/>
              </a:rPr>
              <a:t>Saarthi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DBA74"/>
                </a:solidFill>
                <a:latin typeface="Inter"/>
              </a:rPr>
              <a:t>Thank you.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DBA74"/>
                </a:solidFill>
                <a:latin typeface="Inter"/>
              </a:rPr>
              <a:t>Team Saarthi  ·  VIT Chennai  ·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Code: github.com/Rakshi2609/Saarthi  ·  Demo: localhost:5173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C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315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Saarthi · AI-Powered Smart Lending Decision Hub · TVS Credit EPIC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